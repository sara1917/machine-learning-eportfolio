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yourself. One sentence: we compare a classical and a deep recommender end-to-end — accuracy, explainability, bias, ethics, and deployment — with every claim generated from the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comparison honestly: not just 'which is more accurate' but which is explainable, fair, and deployable. These are the assignment's own dimensions and they genuinely trade off — that's the story arc.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facts computed by verify_dataset.py — 20/20 files, 8/8 integrity checks. Call out the two facts that drive the whole project: 6.3% density and the skew (71% male, long-tail catalogue).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ratings skew positive (mean 3.53) — naive baselines are already decent. Right: the long tail — the fairness/diversity problem in one picture.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defensible choices: (1) canonical GroupLens folds instead of random stratified K-fold — disjoint, complete, per-user coverage, comparable to 25 years of literature; (2) FeatureBuilder fits statistics on the training fold ONLY — no leakage by construction.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ladder: each step must beat the last to justify its complexity. Classical: ItemKNN (neighbourhood CF) and gradient boosting on 69 engineered features — chosen for native SHAP explainability. Deep: NeuMF — GMF learns linear factor interactions, MLP learns non-linear ones, plus bias terms so the net only models residual structure.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the table: NeuMF 0.9150 vs ItemKNN 0.9224 vs HistGB 0.9273 (5-fold means). Honest finding: the tuned HGB config won validation but lost on the canonical folds — validation-protocol mismatch, kept the conservative config. Std devs ~0.007 — differences are small but consistent across folds.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NeuMF converges in ~12 epochs, early stopping prevents overfitting; validation RMSE flattens while train keeps dropping. Right: the learning curve is still steep at 80K ratings — deep models remain data-hungry; at this scale classical CF stays competitive. This explains WHY the gap is narrow.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models compress toward the mean: they almost never predict 1 or 5. MAE at true rating 1 is ~3x MAE at rating 4 — extreme opinions are the hardest to predict. The failure case in the SHAP section shows one concrete 4.87-predicted / 1.0-actual example.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Global story: item quality (item_mean, mean|SHAP| 0.382) dominates, then the user's own scale (0.103) and genre affinities (0.099). Demographics rank 10th or lower — the model personalises on taste, not on who you are. That's a measured transparency 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Left: a failure case decomposed — the model trusted item quality and genre affinity for a film this user hated; recommenders cannot see context. Right: NeuMF has no tabular features, so SHAP is inapplicable (justified in report) — instead, centred embedding analysis shows learned genre structure without genre labels.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gender gap is consistent across all three models: female users' ratings are predicted ~0.06 RMSE worse (NeuMF: F 0.976 vs M 0.910) — they are 29% of users and 25.7% of ratings, so the models optimise for majority taste. Same pattern for young users and long-tail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Same 100 users, same test rows; only difference is whether their history was in training. Every model degrades 0.14–0.21 RMSE. Key insight: with no history, the demographics-bearing model (1.157) is WORSE than a demographic-free popularity prior (1.114) — stereotypes are less accurate than not guessing.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Full-catalogue top-10 for every user. NeuMF (accuracy winner) is popularity-biased: mean recommended-item popularity percentile 0.84, coverage 11%. HistGB reaches 6x deeper into the catalogue (29% coverage, percentile 0.48) but builds genre-narrower lists (ILD 0.58) — its genre-affinity features are a measurable filter-bubble mechanism. No model dominates: this is the real trade-off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required themes, each tied to a computed fact: privacy (1997 consent, ZIP dropped as quasi-identifier, Netflix de-anonymisation precedent), fairness (71% male data → measured gender gap), recommendation bias (42.7% concentration), filter bubbles (affinity SHAP + ILD), transparency (SHAP-faithful vs embedding post-hoc), trust (explain endpoint, cold-start honesty). The ablation makes fairness actionable: dropping demographics costs +0.003 RMSE.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Two-stage: precomputed ItemKNN similarities generate candidates (22 MB, memory-resident), demographics-free HistGB ranks them — sub-millisecond scoring, CPU-only, meets 50ms p99. Monitoring has three layers, and layer 3 is responsible-AI: catalogue coverage and subgroup deltas as first-class production metrics. A retrained model ships only if it does not widen subgroup gaps — fairness as a release gate, not a dashboard.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Land the four findings, then the recommendation. Deep won accuracy but not deployment: at 100K-rating scale the gap is ~0.007-0.012 RMSE, while explainability, cold-start behaviour and diversity all favour different designs. The distinction-level point: model choice is a multi-objective decision, and we measured every objective.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Comparative Intelligence &amp; Ethics in ML:</a:t>
            </a:r>
            <a:br/>
            <a:r>
              <a:t>Classical vs Deep Recommenders on MovieLens 100K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92608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444444"/>
                </a:solidFill>
              </a:defRPr>
            </a:pPr>
            <a:r>
              <a:t>Rating prediction + Top-10 ranking on 100,000 real movie ratings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Classical (ItemKNN / Gradient Boosting) vs Deep (NeuMF): RMSE 0.9224 / 0.9273 vs 0.9150</a:t>
            </a:r>
          </a:p>
          <a:p>
            <a:pPr>
              <a:defRPr sz="1800">
                <a:solidFill>
                  <a:srgbClr val="444444"/>
                </a:solidFill>
              </a:defRPr>
            </a:pPr>
            <a:r>
              <a:t>Every figure, metric and conclusion generated from code — fully reproducible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Problem &amp;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Task: predict ratings (1–5) and rank unseen movies for 943 users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Compare one classical ML and one PyTorch deep model — same data, same protocol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Beyond accuracy, measure what deployment actually requires: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Explainability — can we tell a user WHY?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Bias — cold-start, activity, popularity, demographic subgroups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Diversity — do recommendations concentrate on blockbusters?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Ethics &amp; deployment — privacy, fairness, trust, production design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Dataset: MovieLens 100K (verified)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1206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100,000 ratings · 943 users · 1,682 movies (1997–98)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Matrix density 6.3% — sparsity is the core challenge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Demographics: 71% male, median age 31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Top 10% of movies hold 42.7% of ratings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530 movies (31.5%) have &lt; 10 ratings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Canonical 5-fold splits (u1–u5) — literature-comparable</a:t>
            </a:r>
          </a:p>
        </p:txBody>
      </p:sp>
      <p:pic>
        <p:nvPicPr>
          <p:cNvPr id="4" name="Picture 3" descr="eda_spa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188720"/>
            <a:ext cx="5760720" cy="500866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Exploratory Analysis</a:t>
            </a:r>
          </a:p>
        </p:txBody>
      </p:sp>
      <p:pic>
        <p:nvPicPr>
          <p:cNvPr id="3" name="Picture 2" descr="eda_rating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577840" cy="3389666"/>
          </a:xfrm>
          <a:prstGeom prst="rect">
            <a:avLst/>
          </a:prstGeom>
        </p:spPr>
      </p:pic>
      <p:pic>
        <p:nvPicPr>
          <p:cNvPr id="4" name="Picture 3" descr="eda_long_tai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280160"/>
            <a:ext cx="5577840" cy="339409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Methodology: Leakage-Free Pipeline, Canonical 5-Fold CV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Validation: canonical u1–u5 folds — every rating tested exactly once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Why not Stratified K-Fold? Stratification protects class balance in classification;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for recommenders the risks are per-user coverage &amp; leakage — the canonical folds solve both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All statistic features fitted on train only; unseen users/items → training priors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Metrics: RMSE, MAE + NDCG@10, Precision@10, Recall@10 (relevance = rating ≥ 4)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Determinism: SEED=42 across numpy/torch/sklearn; results are exactly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Two Model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5577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Classical ladder (Scikit-learn):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Global/User/Item means → damped bias model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ItemKNN: shrunk cosine, mean-centred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HistGradientBoosting: 69 features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25-candidate seeded random search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Deep (PyTorch): NeuMF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GMF ⊕ MLP (64→32→16) + bias terms</a:t>
            </a:r>
          </a:p>
          <a:p>
            <a:pPr lvl="1">
              <a:defRPr sz="1400">
                <a:solidFill>
                  <a:srgbClr val="444444"/>
                </a:solidFill>
              </a:defRPr>
            </a:pPr>
            <a:r>
              <a:t>Adam, MSE, early stopping (~12 epochs)</a:t>
            </a:r>
          </a:p>
        </p:txBody>
      </p:sp>
      <p:pic>
        <p:nvPicPr>
          <p:cNvPr id="4" name="Picture 3" descr="neumf_item_embeddings_pc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394960" cy="43045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Results: NeuMF Wins Accuracy — Narrowly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280160"/>
          <a:ext cx="566928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3454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NDCG@10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NeuMF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0.9150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0.7179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0.8512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ItemKNN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0.9224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0.8534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HistGB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0.9273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0.7293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0.8390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HistGB_tuned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0.9337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0.7306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0.8324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UserItemBias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0.7475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0.8345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ItemMean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1.0227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0.8344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UserMean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1.0426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0.8378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0.7366</a:t>
                      </a:r>
                    </a:p>
                  </a:txBody>
                  <a:tcPr/>
                </a:tc>
              </a:tr>
              <a:tr h="3454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GlobalMean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1.1256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0.9447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0.7366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results_comparison_RM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188720"/>
            <a:ext cx="5486400" cy="326398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Training Dynamics &amp; Data Efficiency</a:t>
            </a:r>
          </a:p>
        </p:txBody>
      </p:sp>
      <p:pic>
        <p:nvPicPr>
          <p:cNvPr id="3" name="Picture 2" descr="results_neumf_loss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6766560" cy="2552625"/>
          </a:xfrm>
          <a:prstGeom prst="rect">
            <a:avLst/>
          </a:prstGeom>
        </p:spPr>
      </p:pic>
      <p:pic>
        <p:nvPicPr>
          <p:cNvPr id="4" name="Picture 3" descr="results_learning_curv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1280160"/>
            <a:ext cx="4480560" cy="30694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Where the Models Are Wrong</a:t>
            </a:r>
          </a:p>
        </p:txBody>
      </p:sp>
      <p:pic>
        <p:nvPicPr>
          <p:cNvPr id="3" name="Picture 2" descr="results_prediction_distribu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760720" cy="3370602"/>
          </a:xfrm>
          <a:prstGeom prst="rect">
            <a:avLst/>
          </a:prstGeom>
        </p:spPr>
      </p:pic>
      <p:pic>
        <p:nvPicPr>
          <p:cNvPr id="4" name="Picture 3" descr="results_error_analys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280160"/>
            <a:ext cx="5486400" cy="207045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Explainability I — SHAP on the Classical Model</a:t>
            </a:r>
          </a:p>
        </p:txBody>
      </p:sp>
      <p:pic>
        <p:nvPicPr>
          <p:cNvPr id="3" name="Picture 2" descr="shap_beeswa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188720"/>
            <a:ext cx="5852160" cy="5537649"/>
          </a:xfrm>
          <a:prstGeom prst="rect">
            <a:avLst/>
          </a:prstGeom>
        </p:spPr>
      </p:pic>
      <p:pic>
        <p:nvPicPr>
          <p:cNvPr id="4" name="Picture 3" descr="shap_importance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188720"/>
            <a:ext cx="5394960" cy="60135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Explainability II — Individual Decisions &amp; the Deep Model</a:t>
            </a:r>
          </a:p>
        </p:txBody>
      </p:sp>
      <p:pic>
        <p:nvPicPr>
          <p:cNvPr id="3" name="Picture 2" descr="shap_waterfall_fail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0160"/>
            <a:ext cx="5852160" cy="5346105"/>
          </a:xfrm>
          <a:prstGeom prst="rect">
            <a:avLst/>
          </a:prstGeom>
        </p:spPr>
      </p:pic>
      <p:pic>
        <p:nvPicPr>
          <p:cNvPr id="4" name="Picture 3" descr="neumf_item_embeddings_pc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1280160"/>
            <a:ext cx="5394960" cy="430451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Bias I — Who Is Served Well?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493776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234440"/>
                <a:gridCol w="1234440"/>
                <a:gridCol w="1234440"/>
              </a:tblGrid>
              <a:tr h="5486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group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HistGB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ItemKNN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NeuMF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0.9931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0.9761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0.9104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bias_gend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200400"/>
            <a:ext cx="5212080" cy="3100782"/>
          </a:xfrm>
          <a:prstGeom prst="rect">
            <a:avLst/>
          </a:prstGeom>
        </p:spPr>
      </p:pic>
      <p:pic>
        <p:nvPicPr>
          <p:cNvPr id="5" name="Picture 4" descr="bias_popularit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1371600"/>
            <a:ext cx="5760720" cy="34238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Bias II — Cold Start, Measured Causally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54864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7548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with_history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without_history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degradation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HistGB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0.9467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1.1567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0.2100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ItemKNN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0.9654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1.1142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0.1488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NeuMF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0.9412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1.1142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0.1730</a:t>
                      </a:r>
                    </a:p>
                  </a:txBody>
                  <a:tcPr/>
                </a:tc>
              </a:tr>
              <a:tr h="475488"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UserItemBias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0.9732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1.1142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300"/>
                      </a:pPr>
                      <a:r>
                        <a:t>0.1410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bias_coldst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80160"/>
            <a:ext cx="5486400" cy="326398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Bias III — Diversity: Accuracy Isn't Everything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371600"/>
          <a:ext cx="65836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97280"/>
                <a:gridCol w="1097280"/>
                <a:gridCol w="1097280"/>
                <a:gridCol w="1097280"/>
                <a:gridCol w="1097280"/>
              </a:tblGrid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coverage@10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gini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mean_pop_percentile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intra_list_diversity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novelty_bits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Popularity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0.0480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0.9880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7.8310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HistGB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0.2940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0.9220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0.4770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0.5780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12.3150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NeuMF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0.1130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0.9730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0.8390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0.7160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9.4780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bias_d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840480"/>
            <a:ext cx="11247120" cy="289085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Ethics — Grounded in This Dataset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Privacy — 1997 consent norms; ZIP code dropped (Sweeney 2000); ratings are identifying (Netflix Prize)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Fairness — measured gender gap; ablation: removing demographics costs +0.0029 RMSE, no NDCG loss → drop them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Recommendation bias — top 10% of movies hold 42.7% of ratings; long-tail RMSE penalty measured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Filter bubbles — genre-affinity SHAP + intra-list diversity: the mechanism, quantified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Transparency — SHAP gives faithful per-decision explanations; NeuMF embeddings are post-hoc only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User trust — /explain endpoint, honest cold-start flag, visible feedback → retraining loop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Deployment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REST API: /recommendations, /predict, /explain (SHAP), /feedback, /health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Serving: Docker + autoscaled CPU containers; Redis cache; model registry (MLflow)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Chosen server: demographics-free HistGB (evidence-based); NeuMF path kept for A/B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Monitoring: latency/errors → online RMSE + CTR → coverage &amp; subgroup deltas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Retraining: weekly + drift-triggered; fairness regression blocks release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Versioning: data hashes, semantic model versions, shadow → 5% canary → full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112471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4E79"/>
                </a:solidFill>
              </a:defRPr>
            </a:pPr>
            <a:r>
              <a:t>Conclusions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15568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444444"/>
                </a:solidFill>
              </a:defRPr>
            </a:pPr>
            <a:r>
              <a:t>1. NeuMF is the accuracy winner (RMSE 0.9150) — but by only ~1% over ItemKNN (0.9224)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2. Learning curve still steep at 80K ratings → the deep advantage grows with data; at this scale classical CF is competitive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3. Accuracy, explainability and diversity trade off — no model dominates all three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4. Fair-by-design is cheap: dropping protected attributes costs +0.003 RMSE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Recommendation: serve demographics-free classical ranker with diversity re-ranking; A/B NeuMF as data grows</a:t>
            </a:r>
          </a:p>
          <a:p>
            <a:pPr>
              <a:defRPr sz="1600">
                <a:solidFill>
                  <a:srgbClr val="444444"/>
                </a:solidFill>
              </a:defRPr>
            </a:pPr>
            <a:r>
              <a:t>Limitations: one dataset, 1998 data, offline metrics only · Future: temporal splits, implicit feedback, re-ranking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